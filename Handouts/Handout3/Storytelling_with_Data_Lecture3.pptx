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2811780"/>
            <a:ext cx="292608" cy="2011680"/>
          </a:xfrm>
          <a:prstGeom prst="rect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20256" y="1988820"/>
            <a:ext cx="292608" cy="2834640"/>
          </a:xfrm>
          <a:prstGeom prst="rect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22592" y="3360420"/>
            <a:ext cx="292608" cy="1463040"/>
          </a:xfrm>
          <a:prstGeom prst="rect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24928" y="1348740"/>
            <a:ext cx="292608" cy="3474720"/>
          </a:xfrm>
          <a:prstGeom prst="rect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27264" y="2354580"/>
            <a:ext cx="292608" cy="2468880"/>
          </a:xfrm>
          <a:prstGeom prst="rect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0" y="3543300"/>
            <a:ext cx="292608" cy="1280160"/>
          </a:xfrm>
          <a:prstGeom prst="rect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31936" y="1805940"/>
            <a:ext cx="292608" cy="3017520"/>
          </a:xfrm>
          <a:prstGeom prst="rect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5943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STORYTELLING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457200" y="12344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DATA</a:t>
            </a:r>
            <a:endParaRPr lang="en-US" sz="4200" dirty="0"/>
          </a:p>
        </p:txBody>
      </p:sp>
      <p:sp>
        <p:nvSpPr>
          <p:cNvPr id="12" name="Shape 10"/>
          <p:cNvSpPr/>
          <p:nvPr/>
        </p:nvSpPr>
        <p:spPr>
          <a:xfrm>
            <a:off x="457200" y="1965960"/>
            <a:ext cx="4114800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14884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Biến dữ liệu thành thông điệp có sức thuyết phục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7200" y="278892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Dựa trên: Cole Nussbaumer Knaflic — Storytelling with Data (Wiley, 2015)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389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Môn: Khoa học Dữ liệu Ứng dụng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737360" cy="292608"/>
          </a:xfrm>
          <a:prstGeom prst="roundRect">
            <a:avLst>
              <a:gd name="adj" fmla="val 37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MỞ ĐẦU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Tại sao Data Storytelling quan trọng?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8412480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73152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0876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"Having all the information in the world at our fingertips doesn't make it easier to communicate: it makes it harder. The more information, the harder it is to find what matters."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4231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— Foreword, Storytelling with Data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83464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834640"/>
            <a:ext cx="26974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97180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65%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65760" y="374904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 tin được giữ lại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kết hợp hình ảnh + câu chuyện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46120" y="283464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2834640"/>
            <a:ext cx="269748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297180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10×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3246120" y="374904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nhiều khả năng dữ liệu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được nhớ khi có context rõ ràng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26480" y="283464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2834640"/>
            <a:ext cx="2697480" cy="6400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297180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11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giây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6126480" y="374904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thời gian tối đa để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khán giả hiểu một biểu đồ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Bài học Cốt lõi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hoàn chỉnh để biến data thành câu chuyện có sức thuyết phục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51760" cy="15087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64008" cy="1508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Context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định bối cảnh &amp; Big Idea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1417320"/>
            <a:ext cx="2651760" cy="15087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417320"/>
            <a:ext cx="64008" cy="1508760"/>
          </a:xfrm>
          <a:prstGeom prst="rect">
            <a:avLst/>
          </a:prstGeom>
          <a:solidFill>
            <a:srgbClr val="1D9E9E"/>
          </a:solidFill>
          <a:ln w="12700">
            <a:solidFill>
              <a:srgbClr val="1D9E9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15544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20440" y="19202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Visual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20440" y="2514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biểu đồ phù hợp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417320"/>
            <a:ext cx="2651760" cy="15087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417320"/>
            <a:ext cx="64008" cy="1508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5544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00800" y="19202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Clutter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2514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Loại bỏ nhiễu thị giác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108960"/>
            <a:ext cx="2651760" cy="15087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108960"/>
            <a:ext cx="64008" cy="1508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2461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40080" y="36118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4206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Dẫn dắt sự chú ý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37560" y="3108960"/>
            <a:ext cx="2651760" cy="15087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37560" y="3108960"/>
            <a:ext cx="64008" cy="1508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20440" y="32461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520440" y="36118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Like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Designer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520440" y="4206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 duy thiết kế &amp; thẩm mỹ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17920" y="3108960"/>
            <a:ext cx="2651760" cy="15087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17920" y="3108960"/>
            <a:ext cx="64008" cy="150876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32461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11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400800" y="36118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Story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00800" y="4206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Kể câu chuyện có cấu trúc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2286000" cy="292608"/>
          </a:xfrm>
          <a:prstGeom prst="roundRect">
            <a:avLst>
              <a:gd name="adj" fmla="val 37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BÀI HỌC 01 — CONTEXT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Hiểu bối cảnh trước khi vẽ biểu đồ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697480" cy="3429000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269748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71600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WHO?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181051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là khán giả?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2423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định rõ người nhận thông tin.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 có background gì? Biết gì về data?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Quyết định gì dựa vào thông tin này?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46120" y="1371600"/>
            <a:ext cx="2697480" cy="3429000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371600"/>
            <a:ext cx="2697480" cy="7772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371600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WHAT?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246120" y="181051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Muốn họ biết/làm gì?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0" y="2286000"/>
            <a:ext cx="2423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thông điệp duy nhất, rõ ràng.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'Big Idea' = điểm chính + vì sao quan trọng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kêu gọi hành động cụ thể.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26480" y="1371600"/>
            <a:ext cx="2697480" cy="3429000"/>
          </a:xfrm>
          <a:prstGeom prst="rect">
            <a:avLst/>
          </a:prstGeom>
          <a:solidFill>
            <a:srgbClr val="EDE9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1371600"/>
            <a:ext cx="269748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371600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HOW?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126480" y="181051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data nào?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63640" y="2286000"/>
            <a:ext cx="2423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nào hỗ trợ thông điệp?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lọc — không phải show tất cả.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data có liên quan và cần thiết.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Big Idea = [Điểm chính] + [Vì sao quan trọng] + [Kêu gọi hành động]  —  Viết được thành 1 câu duy nhất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2286000" cy="292608"/>
          </a:xfrm>
          <a:prstGeom prst="roundRect">
            <a:avLst>
              <a:gd name="adj" fmla="val 375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BÀI HỌC 02 — VISUALS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Chọn biểu đồ phù hợp với câu hỏi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160520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73152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17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Text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Dùng khi: 1–2 con số quan trọng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Tránh: Nhiều số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325880"/>
            <a:ext cx="4160520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325880"/>
            <a:ext cx="73152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417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937760" y="1737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Dùng khi: So sánh nhiều chiều, tra cứu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37760" y="2011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Tránh: Biểu diễn trend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542032"/>
            <a:ext cx="4160520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542032"/>
            <a:ext cx="73152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6334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/ Column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" y="29535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Dùng khi: So sánh danh mục (categorical)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32278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Tránh: Trend thời gian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2542032"/>
            <a:ext cx="4160520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2542032"/>
            <a:ext cx="73152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6334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937760" y="29535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Dùng khi: Trend theo thời gian liên tục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37760" y="32278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Tránh: Categorical rời rạc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3758184"/>
            <a:ext cx="4160520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758184"/>
            <a:ext cx="73152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84962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48640" y="41696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Dùng khi: Mối quan hệ giữa 2 biến số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44439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Tránh: Non-numeric data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54880" y="3758184"/>
            <a:ext cx="4160520" cy="1097280"/>
          </a:xfrm>
          <a:prstGeom prst="rect">
            <a:avLst/>
          </a:prstGeom>
          <a:solidFill>
            <a:srgbClr val="FFE4E6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3758184"/>
            <a:ext cx="73152" cy="109728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384962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 ⚠️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4937760" y="41696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Dùng khi: Chỉ khi phần/tổng &lt; 3 slices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937760" y="44439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Tránh: So sánh nhiều category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Nguyên tắc: Chọn biểu đồ theo câu hỏi phân tích, không phải theo sở thích cá nhân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2286000" cy="292608"/>
          </a:xfrm>
          <a:prstGeom prst="roundRect">
            <a:avLst>
              <a:gd name="adj" fmla="val 37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BÀI HỌC 03 — CLUTTER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Clutter là kẻ thù — loại bỏ mọi thứ không cần thiết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Nguyên lý Gestalt trong Data Viz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256032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916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Proximity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14600" y="16916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→ Gần nhau = cùng nhóm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148840"/>
            <a:ext cx="256032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1488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Similarity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14600" y="21488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→ Giống nhau = cùng loại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606040"/>
            <a:ext cx="256032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6060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Enclosure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14600" y="26060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→ Bao quanh = thuộc về nhau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3063240"/>
            <a:ext cx="256032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0632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Closure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14600" y="30632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→ Não tự hoàn thiện hình dạng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3520440"/>
            <a:ext cx="256032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5204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Continuity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514600" y="35204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→ Mắt theo đường liên tục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257800" y="1325880"/>
            <a:ext cx="0" cy="365760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4068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Clutter cần loại bỏ ngay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40680" y="1801368"/>
            <a:ext cx="182880" cy="18288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0" y="173736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Gridlines nặng / dày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40680" y="2231136"/>
            <a:ext cx="182880" cy="18288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0720" y="216712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Đường viền chart không cần thiết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40680" y="2660904"/>
            <a:ext cx="182880" cy="18288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60720" y="2596896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3D effects — làm méo dữ liệu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40680" y="3090672"/>
            <a:ext cx="182880" cy="18288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60720" y="3026664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Quá nhiều màu sắc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40680" y="3520440"/>
            <a:ext cx="182880" cy="18288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60720" y="345643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Data labels lặp trục Y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40680" y="3950208"/>
            <a:ext cx="182880" cy="18288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60720" y="388620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Nhãn chú thích dài &amp; phức tạp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40680" y="4379976"/>
            <a:ext cx="182880" cy="18288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60720" y="431596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Text xoay nghiêng (diagonal)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65760" y="4736592"/>
            <a:ext cx="841248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4736592"/>
            <a:ext cx="8275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it's not adding informational value, it's adding visual noise — remove it." — Cole Nussbaumer Knaflic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2286000" cy="292608"/>
          </a:xfrm>
          <a:prstGeom prst="roundRect">
            <a:avLst>
              <a:gd name="adj" fmla="val 37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TRƯỚC &amp; SAU KHI DECLUTTER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Case study: Ticket Volume — IT Team Staffing Request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160520" cy="3749040"/>
          </a:xfrm>
          <a:prstGeom prst="rect">
            <a:avLst/>
          </a:prstGeom>
          <a:solidFill>
            <a:srgbClr val="FFFFFF"/>
          </a:solidFill>
          <a:ln w="25400">
            <a:solidFill>
              <a:srgbClr val="E11D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8872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TRƯỚC ✗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62763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Chart border nặng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210312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Gridlines dày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257860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Số thập phân (.00) không cần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305409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Nhãn trục X xoay ngang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352958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Legend xa data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400507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Màu quá đậm, bằng nhau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4069080"/>
            <a:ext cx="3474720" cy="777240"/>
          </a:xfrm>
          <a:prstGeom prst="rect">
            <a:avLst/>
          </a:prstGeom>
          <a:solidFill>
            <a:srgbClr val="FFE4E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40690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E11D48"/>
                </a:solidFill>
              </a:rPr>
              <a:t>Biểu đồ rối, khó đọc, mất 30+ giây để hiểu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09160" y="1188720"/>
            <a:ext cx="4160520" cy="3749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118872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 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162763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Bỏ viền, dùng white space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937760" y="210312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Gridlines nhạt / ẩn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937760" y="257860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Chỉ để số nguyên cần thiết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937760" y="305409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Nhãn trục X nằm ngang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937760" y="352958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Direct label ngay trên line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937760" y="400507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Gray cho context, accent color cho key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937760" y="4069080"/>
            <a:ext cx="3474720" cy="777240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40690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59669"/>
                </a:solidFill>
              </a:rPr>
              <a:t>Thông điệp rõ trong 5 giây → hành động ngay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480560" y="2880360"/>
            <a:ext cx="20116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34840" y="26974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2286000" cy="292608"/>
          </a:xfrm>
          <a:prstGeom prst="roundRect">
            <a:avLst>
              <a:gd name="adj" fmla="val 375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BÀI HỌC 04 — ATTENTION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Dẫn dắt sự chú ý của khán giả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Pre-attentive Attributes — Não xử lý TRƯỚC khi nhận thức có ý thức (&lt; 250ms)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2011680" cy="32461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783080"/>
            <a:ext cx="173736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7830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COLOR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2423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Màu sắc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" y="2788920"/>
            <a:ext cx="18105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1 phần tử bằng màu nổi bật.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còn lại → gray.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42032" y="1691640"/>
            <a:ext cx="2011680" cy="32461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79192" y="1783080"/>
            <a:ext cx="1737360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79192" y="17830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SIZE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542032" y="2423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Kích thước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51760" y="2788920"/>
            <a:ext cx="18105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tử lớn hơn = quan trọng hơn.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cho bubble chart, font size.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18304" y="1691640"/>
            <a:ext cx="2011680" cy="32461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55464" y="1783080"/>
            <a:ext cx="1737360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55464" y="17830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INTENSITY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718304" y="2423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 đậm nhạt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28032" y="2788920"/>
            <a:ext cx="18105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text = từ khóa quan trọng.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Đường đậm = series chính.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94576" y="1691640"/>
            <a:ext cx="2011680" cy="32461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31736" y="1783080"/>
            <a:ext cx="1737360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31736" y="17830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POSITION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94576" y="2423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Vị trí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004304" y="2788920"/>
            <a:ext cx="18105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tử ở trên cùng / trái = đọc trước.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Sắp xếp theo thứ tự ưu tiên.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800600"/>
            <a:ext cx="8412480" cy="32004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800600"/>
            <a:ext cx="8275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Quy tắc: Nếu mọi thứ đều nổi bật → không có gì nổi bật. Chỉ highlight 1 thứ duy nhất mỗi lần.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2286000" cy="292608"/>
          </a:xfrm>
          <a:prstGeom prst="roundRect">
            <a:avLst>
              <a:gd name="adj" fmla="val 37500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BÀI HỌC 05 — DESIGN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Tư duy như một nhà thiết kế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160520" cy="1691640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416052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258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Affordance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theo cách khán giả kỳ vọng.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tăng từ trái sang phải.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Màu xanh = tốt, đỏ = xấu.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Đừng đi ngược quy ước.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54880" y="1325880"/>
            <a:ext cx="4160520" cy="169164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325880"/>
            <a:ext cx="4160520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3258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37760" y="182880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 nam giới mù màu (red-green).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teal/orange thay red/green.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pattern + màu song song.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 size ≥ 12pt cho body text.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3200400"/>
            <a:ext cx="4160520" cy="1691640"/>
          </a:xfrm>
          <a:prstGeom prst="rect">
            <a:avLst/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200400"/>
            <a:ext cx="416052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2004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Aesthetics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370332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Đẹp = được tin tưởng hơn.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Alignement và white space quan trọng.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2-3 màu chủ đạo, nhất quán.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 đơn giản, không dùng 3D.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54880" y="3200400"/>
            <a:ext cx="4160520" cy="1691640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3200400"/>
            <a:ext cx="4160520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32004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937760" y="370332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Thay đổi = gặp kháng cự.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Chứng minh bằng A/B test nhỏ.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narrative 'before &amp; after'.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Bắt đầu từ thay đổi ít rủi ro nhất.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65760" y="493776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Thiết kế không phải là trang trí — là công cụ để truyền thông điệp chính xác và nhanh hơn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2286000" cy="292608"/>
          </a:xfrm>
          <a:prstGeom prst="roundRect">
            <a:avLst>
              <a:gd name="adj" fmla="val 37500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BÀI HỌC 06 — STORY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Kể một câu chuyện có cấu trúc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trúc câu chuyện 3 phần: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651760" cy="31089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91640"/>
            <a:ext cx="265176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916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BEGINNING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2402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đầu — Bối cảnh &amp; Xung đột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94360" y="2788920"/>
            <a:ext cx="2423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ai, bối cảnh gì, vấn đề là gì?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Khán giả cần biết tại sao họ phải quan tâm.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Gây chú ý bằng tension, câu hỏi chưa có lời giải.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1691640"/>
            <a:ext cx="2651760" cy="31089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1691640"/>
            <a:ext cx="265176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6916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MIDDLE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20440" y="22402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Thân — Dữ liệu &amp; Diễn biến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520440" y="2788920"/>
            <a:ext cx="2423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 thấy vấn đề thực sự qua data.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Dẫn dắt từng bước, không dump tất cả.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Mỗi chart = một điểm trong câu chuyện.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1691640"/>
            <a:ext cx="2651760" cy="31089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1691640"/>
            <a:ext cx="2651760" cy="45720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16916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46520" y="22402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— Giải pháp &amp; Hành động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46520" y="2788920"/>
            <a:ext cx="2423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 rõ ràng + Call to Action cụ thể.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Khán giả biết mình cần làm gì tiếp theo.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Big Idea xuất hiện ở đây lần cuối.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154680" y="278892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080760" y="278892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57200" y="4846320"/>
            <a:ext cx="8321040" cy="25603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84632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Repetition: Lặp Big Idea ở đầu, giữa, cuối — khán giả sẽ nhớ lâu hơn 3×  |  Lead with the ending: nêu kết luận trước, sau đó mới justify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2286000" cy="292608"/>
          </a:xfrm>
          <a:prstGeom prst="roundRect">
            <a:avLst>
              <a:gd name="adj" fmla="val 375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TỔNG HỢP WORKFLOW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Quy trình hoàn chỉnh: từ Data đến Story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1280160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4173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187452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định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26517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/ WHAT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Idea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554480" y="19659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737360" y="1371600"/>
            <a:ext cx="1280160" cy="1691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37360" y="14173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737360" y="187452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737360" y="26517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/ Line / Scatter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...phù hợp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017520" y="19659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00400" y="1371600"/>
            <a:ext cx="1280160" cy="1691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14173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200400" y="187452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Loại bỏ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Clutter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0" y="26517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Gestalt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Minimalism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480560" y="19659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663440" y="1371600"/>
            <a:ext cx="1280160" cy="16916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14173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663440" y="187452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63440" y="26517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/ Size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43600" y="19659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26480" y="1371600"/>
            <a:ext cx="1280160" cy="169164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14173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126480" y="187452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26480" y="26517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Aesthetics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406640" y="19659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589520" y="1371600"/>
            <a:ext cx="1280160" cy="16916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0" y="14173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589520" y="187452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589520" y="26517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3-part arc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to Action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5760" y="32918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IT Team Hiring Request (từ sách)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65760" y="3657600"/>
            <a:ext cx="1280160" cy="2286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36576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Context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737360" y="3657600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muốn biết: cần thuê thêm bao nhiêu người? → Big Idea: Thiếu 2 FTE gây mất 18% capacity từ tháng 8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65760" y="3913632"/>
            <a:ext cx="1280160" cy="2286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91363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Visual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737360" y="3913632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chart: Received vs Processed theo tháng — rõ ràng hơn bar chart rời rạc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65760" y="4169664"/>
            <a:ext cx="1280160" cy="2286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16966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Declutter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737360" y="4169664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Bỏ viền, gridlines nhạt, bỏ decimal, trục X nằm ngang, legend thành direct label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65760" y="4425696"/>
            <a:ext cx="1280160" cy="2286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42569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Attention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737360" y="4425696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khoảng gap tháng 8-12 bằng màu đỏ nhạt — mọi thứ còn lại: gray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365760" y="4681728"/>
            <a:ext cx="1280160" cy="2286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468172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Story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737360" y="4681728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Mở: 2 nhân viên nghỉ tháng 5 → Giữa: gap tăng từ tháng 8 → Kết: cần 2 FTE ngay Q1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2286000" cy="292608"/>
          </a:xfrm>
          <a:prstGeom prst="roundRect">
            <a:avLst>
              <a:gd name="adj" fmla="val 37500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LỖI PHỔ BIẾN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lỗi phổ biến nhất — và cách sửa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16052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Dùng pie chart cho &gt; 3 categories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6733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Horizontal bar chart, sắp xếp theo giá trị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1325880"/>
            <a:ext cx="416052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371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Quá nhiều màu sắc (rainbow chart)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846320" y="16733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 màu accent, còn lại gray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075688"/>
            <a:ext cx="416052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1214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Dual Y-axis gây nhầm lẫn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24231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2 chart riêng biệt, rõ ràng hơn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0" y="2075688"/>
            <a:ext cx="416052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21214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Title chỉ mô tả 'Sales by Quarter'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46320" y="24231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Title = insight: 'Q3 exceeded target by 23%'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825496"/>
            <a:ext cx="416052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8712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Show toàn bộ data không lọc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31729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Chỉ show data liên quan đến Big Idea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2825496"/>
            <a:ext cx="416052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8712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Trục Y bắt đầu không phải từ 0 (bar)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46320" y="31729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Bar chart LUÔN bắt đầu từ 0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3575304"/>
            <a:ext cx="416052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6210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3D charts (3D bar, 3D pie)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392277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2D hoàn toàn đủ và chính xác hơn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3575304"/>
            <a:ext cx="416052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36210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Chú thích quá nhiều, phức tạp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46320" y="392277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Direct labels, bỏ legend khi có thể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4325112"/>
            <a:ext cx="416052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3708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Font nhỏ hơn 8pt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46725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Minimum 12pt body, 16pt+ titles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54880" y="4325112"/>
            <a:ext cx="416052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43708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Không có Call to Action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46320" y="46725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Kết mỗi viz bằng 1 hành động cụ thể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2286000" cy="292608"/>
          </a:xfrm>
          <a:prstGeom prst="roundRect">
            <a:avLst>
              <a:gd name="adj" fmla="val 37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BÀI TẬP THỰC HÀNH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 Viz Makeover Challenge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841248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801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1  —  INDIVIDUAL (20 phút): Viết Big Idea Statement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719072"/>
            <a:ext cx="8275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Bối cảnh: Bạn là data analyst tại một startup edtech. User retention tháng vừa rồi giảm 12% sau khi update app mới. CEO muốn họp khẩn với product team.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212848"/>
            <a:ext cx="8275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  WHO? — Xác định audience và background của họ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212848"/>
            <a:ext cx="36576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532888"/>
            <a:ext cx="8275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  WHAT? — Thông điệp chính mà CEO cần biết/làm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532888"/>
            <a:ext cx="36576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852928"/>
            <a:ext cx="8275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  HOW? — Loại data nào sẽ minh chứng tốt nhất?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2852928"/>
            <a:ext cx="36576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172968"/>
            <a:ext cx="8275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4.  Viết Big Idea Statement thành đúng 1 câu hoàn chỉnh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172968"/>
            <a:ext cx="36576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547872"/>
            <a:ext cx="841248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5478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2  —  NHÓM (30 phút): Makeover một biểu đồ xấu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3950208"/>
            <a:ext cx="8275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  Nhận 1 biểu đồ 'xấu' từ giảng viên (pie chart phức tạp, 3D bar, dual axis...)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3950208"/>
            <a:ext cx="36576" cy="2468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224528"/>
            <a:ext cx="8275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  Identify: liệt kê TẤT CẢ vấn đề theo 6 bài học (context/visual/clutter/attention/design/story)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4224528"/>
            <a:ext cx="36576" cy="2468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498848"/>
            <a:ext cx="8275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  Redesign: vẽ lại phiên bản mới bằng tay (sketch) hoặc Python/Tableau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2920" y="4498848"/>
            <a:ext cx="36576" cy="2468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773168"/>
            <a:ext cx="8275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4.  Present: nhóm trình bày 3 phút — Before vs After + giải thích từng thay đổi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02920" y="4773168"/>
            <a:ext cx="36576" cy="2468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93776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đánh giá: Context (20%) + Visual choice (20%) + Declutter (20%) + Attention (20%) + Story (20%)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2286000" cy="292608"/>
          </a:xfrm>
          <a:prstGeom prst="roundRect">
            <a:avLst>
              <a:gd name="adj" fmla="val 37500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TOOLS &amp; RESOURCES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Công cụ &amp; Tài nguyên tự học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cụ thực hành (theo stack):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45920"/>
            <a:ext cx="2697480" cy="1645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645920"/>
            <a:ext cx="269748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4592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0574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matplotlib + seaborn (nền tảng)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4414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plotly (interactive)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82549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altair (declarative, rất đẹp)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645920"/>
            <a:ext cx="2697480" cy="1645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645920"/>
            <a:ext cx="269748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164592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3280" y="20574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Tableau Public (free)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3280" y="24414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Flourish.studio (free tier)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282549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Datawrapper (báo chí chuẩn)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645920"/>
            <a:ext cx="2697480" cy="1645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1645920"/>
            <a:ext cx="269748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164592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63640" y="20574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D3.js (full control)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63640" y="24414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Observable Notebooks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63640" y="282549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Streamlit (web app)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34290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Đọc thêm: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5760" y="3794760"/>
            <a:ext cx="20116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3749040"/>
            <a:ext cx="8092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 Nussbaumer Knaflic — Storytelling with Data (sách này) + SWD Let's Practice (bài tập)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4041648"/>
            <a:ext cx="20116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" y="3995928"/>
            <a:ext cx="8092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Edward Tufte — The Visual Display of Quantitative Information (kinh điển)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288536"/>
            <a:ext cx="20116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4242816"/>
            <a:ext cx="8092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Alberto Cairo — The Functional Art &amp; How Charts Lie (phân tích sâu)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535424"/>
            <a:ext cx="20116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" y="4489704"/>
            <a:ext cx="8092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Website: storytellingwithdata.com/blog — case studies mới mỗi tuần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4782312"/>
            <a:ext cx="20116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" y="4736592"/>
            <a:ext cx="8092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Google Data Analytics Certificate — Coursera (có phần viz rất tốt)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Bạn rời khỏi lớp học này với: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502920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25880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1371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6 bước: Context → Visual → Declutter → Attention → Design → Story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39112"/>
            <a:ext cx="502920" cy="5303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39112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208483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Luôn xác định WHO &amp; WHAT trước — Big Idea là kim chỉ nam cho mọi lựa chọn viz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752344"/>
            <a:ext cx="502920" cy="5303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752344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97280" y="2798064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Clutter = kẻ thù — nếu không có lý do để thêm, hãy bỏ đi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465576"/>
            <a:ext cx="502920" cy="5303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65576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97280" y="351129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highlight 1 thứ mỗi lần — màu + size + vị trí là vũ khí, dùng có kiểm soát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178808"/>
            <a:ext cx="502920" cy="53035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178808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97280" y="422452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chart = 1 điểm trong câu chuyện — data không tự kể chuyện, bạn phải kể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7091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"No longer will you just show data. Rather, you will tell a story with data."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95604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Cole Nussbaumer Knaflic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Storytelling with Data</dc:title>
  <dc:subject>PptxGenJS Presentation</dc:subject>
  <dc:creator>Data Science Lecture</dc:creator>
  <cp:lastModifiedBy>Data Science Lecture</cp:lastModifiedBy>
  <cp:revision>1</cp:revision>
  <dcterms:created xsi:type="dcterms:W3CDTF">2026-05-20T06:52:34Z</dcterms:created>
  <dcterms:modified xsi:type="dcterms:W3CDTF">2026-05-20T06:52:34Z</dcterms:modified>
</cp:coreProperties>
</file>